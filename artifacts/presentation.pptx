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3716000" cy="7715250"/>
  <p:notesSz cx="7715250" cy="1371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628650"/>
            <a:ext cx="1340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INTELLIGENT CODE 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6250" y="1009650"/>
            <a:ext cx="1340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4"/>
              </a:spcBef>
              <a:spcAft>
                <a:spcPts val="804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zerodayFind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6250" y="1390650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猎零安全团队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6250" y="1771650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智能代码安全平台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6250" y="215265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发现真实漏洞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6250" y="238125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降低安全风险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6250" y="260985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加速合规交付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57834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4"/>
              </a:spcBef>
              <a:spcAft>
                <a:spcPts val="804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目录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6250" y="909042"/>
            <a:ext cx="1779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6250" y="1232892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安全挑战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6250" y="1613892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漏洞的代价与传统工具局限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6250" y="1994892"/>
            <a:ext cx="1779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6250" y="2318742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我们的方案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6250" y="2699742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智能代码安全平台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6250" y="3080742"/>
            <a:ext cx="1779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03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6250" y="3404592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产品与服务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6250" y="3785592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三种部署形态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6250" y="4166592"/>
            <a:ext cx="1779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04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6250" y="4490442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核心优势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6250" y="4871442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四大差异化能力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6250" y="5252442"/>
            <a:ext cx="1779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05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6250" y="5576292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商业价值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6250" y="5957292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ROI与竞争优势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628650"/>
            <a:ext cx="1340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6250" y="1009650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4"/>
              </a:spcBef>
              <a:spcAft>
                <a:spcPts val="804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安全挑战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6250" y="1390650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漏洞的代价与工具局限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code\kimiSec\zerodayFind\frontend\dist-slides\html2pptx_tmp_all-slides\svg_1782451437071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2426196"/>
            <a:ext cx="12763500" cy="12763500"/>
          </a:xfrm>
          <a:prstGeom prst="rect">
            <a:avLst/>
          </a:prstGeom>
        </p:spPr>
      </p:pic>
      <p:pic>
        <p:nvPicPr>
          <p:cNvPr id="3" name="Image 1" descr="E:\code\kimiSec\zerodayFind\frontend\dist-slides\html2pptx_tmp_all-slides\svg_1782451437225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6456521"/>
            <a:ext cx="12763500" cy="12763500"/>
          </a:xfrm>
          <a:prstGeom prst="rect">
            <a:avLst/>
          </a:prstGeom>
        </p:spPr>
      </p:pic>
      <p:pic>
        <p:nvPicPr>
          <p:cNvPr id="4" name="Image 2" descr="E:\code\kimiSec\zerodayFind\frontend\dist-slides\html2pptx_tmp_all-slides\svg_1782451437329_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0486846"/>
            <a:ext cx="12763500" cy="12763500"/>
          </a:xfrm>
          <a:prstGeom prst="rect">
            <a:avLst/>
          </a:prstGeom>
        </p:spPr>
      </p:pic>
      <p:pic>
        <p:nvPicPr>
          <p:cNvPr id="5" name="Image 3" descr="E:\code\kimiSec\zerodayFind\frontend\dist-slides\html2pptx_tmp_all-slides\svg_1782451437463_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44488596"/>
            <a:ext cx="12763500" cy="127635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476250" y="-46437054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4"/>
              </a:spcBef>
              <a:spcAft>
                <a:spcPts val="804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漏洞发现的时间差 = 经济损失</a:t>
            </a:r>
            <a:endParaRPr lang="en-US" sz="1200" dirty="0"/>
          </a:p>
        </p:txBody>
      </p:sp>
      <p:sp>
        <p:nvSpPr>
          <p:cNvPr id="7" name="Text 1"/>
          <p:cNvSpPr/>
          <p:nvPr/>
        </p:nvSpPr>
        <p:spPr>
          <a:xfrm>
            <a:off x="476250" y="-46056054"/>
            <a:ext cx="1340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Cost of Delayed Vulnerability Detection · Industry Data 2024</a:t>
            </a:r>
            <a:endParaRPr lang="en-US" sz="1200" dirty="0"/>
          </a:p>
        </p:txBody>
      </p:sp>
      <p:sp>
        <p:nvSpPr>
          <p:cNvPr id="8" name="Text 2"/>
          <p:cNvSpPr/>
          <p:nvPr/>
        </p:nvSpPr>
        <p:spPr>
          <a:xfrm>
            <a:off x="476250" y="-45675054"/>
            <a:ext cx="134016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5-25x</a:t>
            </a:r>
            <a:endParaRPr lang="en-US" sz="1200" dirty="0"/>
          </a:p>
        </p:txBody>
      </p:sp>
      <p:sp>
        <p:nvSpPr>
          <p:cNvPr id="9" name="Text 3"/>
          <p:cNvSpPr/>
          <p:nvPr/>
        </p:nvSpPr>
        <p:spPr>
          <a:xfrm>
            <a:off x="476250" y="-45351204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延迟修复成本倍增</a:t>
            </a:r>
            <a:endParaRPr lang="en-US" sz="1200" dirty="0"/>
          </a:p>
        </p:txBody>
      </p:sp>
      <p:sp>
        <p:nvSpPr>
          <p:cNvPr id="10" name="Text 4"/>
          <p:cNvSpPr/>
          <p:nvPr/>
        </p:nvSpPr>
        <p:spPr>
          <a:xfrm>
            <a:off x="476250" y="-44970204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平均发现周期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476250" y="-31673304"/>
            <a:ext cx="14039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207天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476250" y="-31320879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漏洞从引入到被发现（IBM X-Force 2024）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476250" y="-30939879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单次数据泄露损失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76250" y="-17642979"/>
            <a:ext cx="14039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$445万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76250" y="-17290554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数据泄露平均损失（Ponemon Institute）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476250" y="-16909554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告警疲劳率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476250" y="-3612654"/>
            <a:ext cx="134016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67%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476250" y="-3288804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安全团队对传统工具告警失去信任（SANS 2024）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76250" y="-2907804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逻辑漏洞占比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76250" y="10389096"/>
            <a:ext cx="134016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35%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76250" y="1071294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高危漏洞中需理解代码意图的类型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76250" y="1109394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核心发现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76250" y="11474946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开发阶段发现修复成本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2042666" y="11522571"/>
            <a:ext cx="1779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$1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76250" y="11703546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测试阶段发现修复成本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2042666" y="11751171"/>
            <a:ext cx="1779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$5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76250" y="11932146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生产阶段发现修复成本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2042666" y="11979771"/>
            <a:ext cx="26706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$25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76250" y="1231314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关键洞察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476250" y="1269414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发现越晚，修复越贵。</a:t>
            </a:r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在生产环境发现1个漏洞的成本等于开发阶段发现5个漏洞的成本（NIST研究）。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476250" y="1307514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规则引擎天然盲区。</a:t>
            </a:r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35%的高危漏洞需要理解代码意图才能发现，传统SAST工具完全无法检测。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57834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4"/>
              </a:spcBef>
              <a:spcAft>
                <a:spcPts val="804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传统代码安全工具的局限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6250" y="959346"/>
            <a:ext cx="1340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Traditional Tools Fall Short · Six-Dimension Comparison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28726" y="1502271"/>
            <a:ext cx="3599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zerodayFind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43027" y="1883271"/>
            <a:ext cx="3770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智能推理引擎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430040" y="1502271"/>
            <a:ext cx="28906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传统 SAST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30040" y="1883271"/>
            <a:ext cx="28906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规则匹配引擎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4425" y="2435721"/>
            <a:ext cx="3770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AI溯因推理 · 发现未知风险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14425" y="2988171"/>
            <a:ext cx="3770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五层去重+置信度评分 · 精准可操作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14425" y="3540621"/>
            <a:ext cx="3770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逻辑漏洞+零日风险 · 无需规则更新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4425" y="4093071"/>
            <a:ext cx="3770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12领域专属策略 · 智能适配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4425" y="4645521"/>
            <a:ext cx="3770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三重验证+质量审查 · 完整证据链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14425" y="5197971"/>
            <a:ext cx="3770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SARIF标准+基线比对+增量扫描 · DevSecOps原生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6250" y="574089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传统工具"找已知漏洞"，我们"推理未知风险" — 这是根本性的范式转变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628650"/>
            <a:ext cx="1340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6250" y="1009650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4"/>
              </a:spcBef>
              <a:spcAft>
                <a:spcPts val="804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我们的方案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6250" y="1390650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智能代码安全平台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57834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4"/>
              </a:spcBef>
              <a:spcAft>
                <a:spcPts val="804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zerodayFind 价值主张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6250" y="959346"/>
            <a:ext cx="1340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Proposition · From Hypothesis to Verified Vulnerability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6250" y="134034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客户痛点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6250" y="1721346"/>
            <a:ext cx="12763500" cy="6858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漏洞发现滞后，修复成本指数级增长</a:t>
            </a:r>
            <a:endParaRPr lang="en-US" sz="1200" dirty="0"/>
          </a:p>
          <a:p>
            <a:pPr algn="l" marL="190500" indent="-1905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告警疲劳严重，67%团队失去信任</a:t>
            </a:r>
            <a:endParaRPr lang="en-US" sz="1200" dirty="0"/>
          </a:p>
          <a:p>
            <a:pPr algn="l" marL="190500" indent="-1905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逻辑漏洞盲区，规则引擎无法触及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6250" y="255954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痛点后果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6250" y="2940546"/>
            <a:ext cx="12763500" cy="6858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数据泄露平均损失445万美元</a:t>
            </a:r>
            <a:endParaRPr lang="en-US" sz="1200" dirty="0"/>
          </a:p>
          <a:p>
            <a:pPr algn="l" marL="190500" indent="-1905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安全团队产能被误报吞噬</a:t>
            </a:r>
            <a:endParaRPr lang="en-US" sz="1200" dirty="0"/>
          </a:p>
          <a:p>
            <a:pPr algn="l" marL="190500" indent="-1905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合规审计依赖人工，效率低下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6250" y="377874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核心价值主张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6250" y="415974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"从假设出发，发现真实漏洞"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6250" y="454074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不是匹配规则，而是模拟安全研究员的推理过程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6250" y="492174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发现能力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6250" y="530274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溯因推理发现逻辑漏洞，无需等待规则库更新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6250" y="568374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精准能力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6250" y="606474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五层去重+置信度评分，误报率显著低于传统工具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6250" y="644574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集成能力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6250" y="682674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SARIF标准+CI/CD原生集成，DevSecOps无缝嵌入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6250" y="720774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价值交付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6250" y="7588746"/>
            <a:ext cx="12763500" cy="6858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提前发现高危漏洞，缩短发现周期</a:t>
            </a:r>
            <a:endParaRPr lang="en-US" sz="1200" dirty="0"/>
          </a:p>
          <a:p>
            <a:pPr algn="l" marL="190500" indent="-1905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精准输出，每个告警可操作有证据链</a:t>
            </a:r>
            <a:endParaRPr lang="en-US" sz="1200" dirty="0"/>
          </a:p>
          <a:p>
            <a:pPr algn="l" marL="190500" indent="-1905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SARIF标准输出，直接对接CI工具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6250" y="842694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部署形态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6250" y="8807946"/>
            <a:ext cx="12763500" cy="6858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CLI工具 — 开发者本地使用</a:t>
            </a:r>
            <a:endParaRPr lang="en-US" sz="1200" dirty="0"/>
          </a:p>
          <a:p>
            <a:pPr algn="l" marL="190500" indent="-1905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CI/CD组件 — 自动化流水线</a:t>
            </a:r>
            <a:endParaRPr lang="en-US" sz="1200" dirty="0"/>
          </a:p>
          <a:p>
            <a:pPr algn="l" marL="190500" indent="-1905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审计服务 — 猎零安全团队深度审计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6250" y="964614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三重验证保障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6250" y="1002714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每个发现都经过完整证据链验证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6250" y="10408146"/>
            <a:ext cx="67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推理假设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6250" y="10636746"/>
            <a:ext cx="67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独立验证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6250" y="10865346"/>
            <a:ext cx="67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质量审查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602605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96"/>
              </a:spcBef>
              <a:spcAft>
                <a:spcPts val="996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三步完成代码安全审计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6250" y="983605"/>
            <a:ext cx="1340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6250" y="1364605"/>
            <a:ext cx="134016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Intelligent Security Audit Process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6250" y="1688455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核心流程：</a:t>
            </a:r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从代码提交到安全确认，三步走完成智能审计。不是规则匹配后直接告警，而是推理→验证→审查后才输出发现。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6250" y="2069455"/>
            <a:ext cx="1340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6250" y="2500610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96"/>
              </a:spcBef>
              <a:spcAft>
                <a:spcPts val="1596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智能推理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6250" y="2931765"/>
            <a:ext cx="12763500" cy="9525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AI理解代码意图和安全语义</a:t>
            </a:r>
            <a:endParaRPr lang="en-US" sz="1200" dirty="0"/>
          </a:p>
          <a:p>
            <a:pPr algn="l" marL="190500" indent="-190500">
              <a:buSzPct val="100000"/>
              <a:buChar char="•"/>
            </a:pP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模拟安全研究员溯因推理</a:t>
            </a:r>
            <a:endParaRPr lang="en-US" sz="1200" dirty="0"/>
          </a:p>
          <a:p>
            <a:pPr algn="l" marL="190500" indent="-190500">
              <a:buSzPct val="100000"/>
              <a:buChar char="•"/>
            </a:pP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覆盖12个安全领域自动适配</a:t>
            </a:r>
            <a:endParaRPr lang="en-US" sz="1200" dirty="0"/>
          </a:p>
          <a:p>
            <a:pPr algn="l" marL="190500" indent="-190500">
              <a:buSzPct val="100000"/>
              <a:buChar char="•"/>
            </a:pP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形成可验证的安全假设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6250" y="4036665"/>
            <a:ext cx="1340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6250" y="4467820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96"/>
              </a:spcBef>
              <a:spcAft>
                <a:spcPts val="1596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独立验证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6250" y="4898975"/>
            <a:ext cx="12763500" cy="9525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多角色验证器并发执行</a:t>
            </a:r>
            <a:endParaRPr lang="en-US" sz="1200" dirty="0"/>
          </a:p>
          <a:p>
            <a:pPr algn="l" marL="190500" indent="-190500">
              <a:buSzPct val="100000"/>
              <a:buChar char="•"/>
            </a:pP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追踪数据流验证可达性</a:t>
            </a:r>
            <a:endParaRPr lang="en-US" sz="1200" dirty="0"/>
          </a:p>
          <a:p>
            <a:pPr algn="l" marL="190500" indent="-190500">
              <a:buSzPct val="100000"/>
              <a:buChar char="•"/>
            </a:pP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构造利用路径确认影响</a:t>
            </a:r>
            <a:endParaRPr lang="en-US" sz="1200" dirty="0"/>
          </a:p>
          <a:p>
            <a:pPr algn="l" marL="190500" indent="-190500">
              <a:buSzPct val="100000"/>
              <a:buChar char="•"/>
            </a:pP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每个假设独立验证非直接告警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6250" y="6003875"/>
            <a:ext cx="1340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6250" y="6435030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96"/>
              </a:spcBef>
              <a:spcAft>
                <a:spcPts val="1596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质量审查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6250" y="6866186"/>
            <a:ext cx="12763500" cy="9525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攻击者能否到达漏洞点？</a:t>
            </a:r>
            <a:endParaRPr lang="en-US" sz="1200" dirty="0"/>
          </a:p>
          <a:p>
            <a:pPr algn="l" marL="190500" indent="-190500">
              <a:buSzPct val="100000"/>
              <a:buChar char="•"/>
            </a:pP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能否产生实际安全影响？</a:t>
            </a:r>
            <a:endParaRPr lang="en-US" sz="1200" dirty="0"/>
          </a:p>
          <a:p>
            <a:pPr algn="l" marL="190500" indent="-190500">
              <a:buSzPct val="100000"/>
              <a:buChar char="•"/>
            </a:pP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是否有已知缓解措施？</a:t>
            </a:r>
            <a:endParaRPr lang="en-US" sz="1200" dirty="0"/>
          </a:p>
          <a:p>
            <a:pPr algn="l" marL="190500" indent="-190500">
              <a:buSzPct val="100000"/>
              <a:buChar char="•"/>
            </a:pP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附置信度评分和修复建议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6250" y="797108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输出成果：</a:t>
            </a:r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标准SARIF 2.1.0报告，直接对接GitHub/GitLab/VS Code，每个发现包含完整推理过程、证据链和修复建议。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6250" y="835208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行业标准：</a:t>
            </a:r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SARIF 2.1.0是OASIS认可的静态分析结果交换格式，主流CI平台和安全工具广泛支持。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628650"/>
            <a:ext cx="1340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6250" y="1009650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4"/>
              </a:spcBef>
              <a:spcAft>
                <a:spcPts val="804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产品与服务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6250" y="1390650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三种部署形态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57834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4"/>
              </a:spcBef>
              <a:spcAft>
                <a:spcPts val="804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三种部署形态，统一安全引擎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6250" y="959346"/>
            <a:ext cx="1340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Unified Security Engine · Three Deployment Models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6250" y="1340346"/>
            <a:ext cx="134016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CLI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6250" y="166419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96"/>
              </a:spcBef>
              <a:spcAft>
                <a:spcPts val="996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CLI审计工具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6250" y="2045196"/>
            <a:ext cx="1340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Command Line Interface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6250" y="2426196"/>
            <a:ext cx="12763500" cy="9144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开发者本地使用，单命令扫描项目</a:t>
            </a:r>
            <a:endParaRPr lang="en-US" sz="1200" dirty="0"/>
          </a:p>
          <a:p>
            <a:pPr algn="l" marL="190500" indent="-1905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Go单二进制跨平台分发，零依赖部署</a:t>
            </a:r>
            <a:endParaRPr lang="en-US" sz="1200" dirty="0"/>
          </a:p>
          <a:p>
            <a:pPr algn="l" marL="190500" indent="-1905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适合安全研究员日常审计和快速排查</a:t>
            </a:r>
            <a:endParaRPr lang="en-US" sz="1200" dirty="0"/>
          </a:p>
          <a:p>
            <a:pPr algn="l" marL="190500" indent="-1905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zdll scan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6250" y="3492996"/>
            <a:ext cx="134016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CI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6250" y="381684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96"/>
              </a:spcBef>
              <a:spcAft>
                <a:spcPts val="996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CI/CD安全组件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6250" y="4197846"/>
            <a:ext cx="1340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Integration Component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6250" y="4578846"/>
            <a:ext cx="12763500" cy="9144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集成DevSecOps流水线，自动化持续检测</a:t>
            </a:r>
            <a:endParaRPr lang="en-US" sz="1200" dirty="0"/>
          </a:p>
          <a:p>
            <a:pPr algn="l" marL="190500" indent="-1905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SARIF标准输出对接GitHub/GitLab/Azure</a:t>
            </a:r>
            <a:endParaRPr lang="en-US" sz="1200" dirty="0"/>
          </a:p>
          <a:p>
            <a:pPr algn="l" marL="190500" indent="-1905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增量扫描+基线比对+严重性策略门控</a:t>
            </a:r>
            <a:endParaRPr lang="en-US" sz="1200" dirty="0"/>
          </a:p>
          <a:p>
            <a:pPr algn="l" marL="190500" indent="-1905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可配置阻断部署或仅告警通知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6250" y="5645646"/>
            <a:ext cx="134016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Svc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6250" y="596949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96"/>
              </a:spcBef>
              <a:spcAft>
                <a:spcPts val="996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代码审计服务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6250" y="6350496"/>
            <a:ext cx="1340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 Audit Service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6250" y="6731496"/>
            <a:ext cx="12763500" cy="9144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猎零安全团队深度审计+人工复核</a:t>
            </a:r>
            <a:endParaRPr lang="en-US" sz="1200" dirty="0"/>
          </a:p>
          <a:p>
            <a:pPr algn="l" marL="190500" indent="-1905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输出完整漏洞报告+修复建议</a:t>
            </a:r>
            <a:endParaRPr lang="en-US" sz="1200" dirty="0"/>
          </a:p>
          <a:p>
            <a:pPr algn="l" marL="190500" indent="-1905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适合企业级安全评估和合规审计</a:t>
            </a:r>
            <a:endParaRPr lang="en-US" sz="1200" dirty="0"/>
          </a:p>
          <a:p>
            <a:pPr algn="l" marL="190500" indent="-1905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满足SOC2/ISO27001/PCI-DSS合规要求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6250" y="7798296"/>
            <a:ext cx="134016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Core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6250" y="812214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96"/>
              </a:spcBef>
              <a:spcAft>
                <a:spcPts val="996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统一智能推理引擎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6250" y="8503146"/>
            <a:ext cx="1340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Unified Security Intelligence Core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6250" y="8884146"/>
            <a:ext cx="12763500" cy="6858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三种形态共享同一智能推理引擎</a:t>
            </a:r>
            <a:endParaRPr lang="en-US" sz="1200" dirty="0"/>
          </a:p>
          <a:p>
            <a:pPr algn="l" marL="190500" indent="-1905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一致的安全发现能力和报告质量</a:t>
            </a:r>
            <a:endParaRPr lang="en-US" sz="1200" dirty="0"/>
          </a:p>
          <a:p>
            <a:pPr algn="l" marL="190500" indent="-1905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无论哪种形态，底层审计能力完全一致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57834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4"/>
              </a:spcBef>
              <a:spcAft>
                <a:spcPts val="804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CI/CD 集成：安全左移完整方案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6250" y="959346"/>
            <a:ext cx="1340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Shift-Left Security · Five-Stage Integration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6250" y="134034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集成方式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6250" y="1721346"/>
            <a:ext cx="14039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5步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6250" y="2073771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提交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6250" y="2454771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扫描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6250" y="2835771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比对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6250" y="3216771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门控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6250" y="3597771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交付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6250" y="3978771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代码提交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6250" y="4359771"/>
            <a:ext cx="1340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Commit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6250" y="4740771"/>
            <a:ext cx="6435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触发CI 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6250" y="5121771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自动扫描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6250" y="5502771"/>
            <a:ext cx="1340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zdll ci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6250" y="5883771"/>
            <a:ext cx="7853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SARIF输出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6250" y="6264771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结果比对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6250" y="6645771"/>
            <a:ext cx="1340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Comparison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6250" y="7026771"/>
            <a:ext cx="67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增量检测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6250" y="7407771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策略门控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6250" y="7788771"/>
            <a:ext cx="1340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--fail-on critical/high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6250" y="8169771"/>
            <a:ext cx="7363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阻断/告警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6250" y="8550771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安全交付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6250" y="8931771"/>
            <a:ext cx="1340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Release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6250" y="9312771"/>
            <a:ext cx="4873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发布 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6250" y="9693771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增量扫描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6250" y="10074771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仅分析变更文件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6250" y="10455771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基线比对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6250" y="10836771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新增 vs 已解决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6250" y="11217771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证据链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6250" y="11598771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完整推理过程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628650"/>
            <a:ext cx="1340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6250" y="1009650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4"/>
              </a:spcBef>
              <a:spcAft>
                <a:spcPts val="804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核心优势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6250" y="1390650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四大差异化能力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code\kimiSec\zerodayFind\frontend\dist-slides\html2pptx_tmp_all-slides\svg_1782451442412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1721346"/>
            <a:ext cx="12763500" cy="12763500"/>
          </a:xfrm>
          <a:prstGeom prst="rect">
            <a:avLst/>
          </a:prstGeom>
        </p:spPr>
      </p:pic>
      <p:pic>
        <p:nvPicPr>
          <p:cNvPr id="3" name="Image 1" descr="E:\code\kimiSec\zerodayFind\frontend\dist-slides\html2pptx_tmp_all-slides\svg_1782451442560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8332946"/>
            <a:ext cx="12763500" cy="12763500"/>
          </a:xfrm>
          <a:prstGeom prst="rect">
            <a:avLst/>
          </a:prstGeom>
        </p:spPr>
      </p:pic>
      <p:pic>
        <p:nvPicPr>
          <p:cNvPr id="4" name="Image 2" descr="E:\code\kimiSec\zerodayFind\frontend\dist-slides\html2pptx_tmp_all-slides\svg_1782451442705_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4973121"/>
            <a:ext cx="12763500" cy="12763500"/>
          </a:xfrm>
          <a:prstGeom prst="rect">
            <a:avLst/>
          </a:prstGeom>
        </p:spPr>
      </p:pic>
      <p:pic>
        <p:nvPicPr>
          <p:cNvPr id="5" name="Image 3" descr="E:\code\kimiSec\zerodayFind\frontend\dist-slides\html2pptx_tmp_all-slides\svg_1782451442829_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51584721"/>
            <a:ext cx="12763500" cy="127635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476250" y="-53533179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4"/>
              </a:spcBef>
              <a:spcAft>
                <a:spcPts val="804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四大核心能力</a:t>
            </a:r>
            <a:endParaRPr lang="en-US" sz="1200" dirty="0"/>
          </a:p>
        </p:txBody>
      </p:sp>
      <p:sp>
        <p:nvSpPr>
          <p:cNvPr id="7" name="Text 1"/>
          <p:cNvSpPr/>
          <p:nvPr/>
        </p:nvSpPr>
        <p:spPr>
          <a:xfrm>
            <a:off x="476250" y="-53152179"/>
            <a:ext cx="1340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Capabilities · What Makes Us Different</a:t>
            </a:r>
            <a:endParaRPr lang="en-US" sz="1200" dirty="0"/>
          </a:p>
        </p:txBody>
      </p:sp>
      <p:sp>
        <p:nvSpPr>
          <p:cNvPr id="8" name="Text 2"/>
          <p:cNvSpPr/>
          <p:nvPr/>
        </p:nvSpPr>
        <p:spPr>
          <a:xfrm>
            <a:off x="476250" y="-52771179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智能发现</a:t>
            </a:r>
            <a:endParaRPr lang="en-US" sz="1200" dirty="0"/>
          </a:p>
        </p:txBody>
      </p:sp>
      <p:sp>
        <p:nvSpPr>
          <p:cNvPr id="9" name="Text 3"/>
          <p:cNvSpPr/>
          <p:nvPr/>
        </p:nvSpPr>
        <p:spPr>
          <a:xfrm>
            <a:off x="476250" y="-39474279"/>
            <a:ext cx="1340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AI-Driven Discovery · Abductive Reasoning</a:t>
            </a:r>
            <a:endParaRPr lang="en-US" sz="1200" dirty="0"/>
          </a:p>
        </p:txBody>
      </p:sp>
      <p:sp>
        <p:nvSpPr>
          <p:cNvPr id="10" name="Text 4"/>
          <p:cNvSpPr/>
          <p:nvPr/>
        </p:nvSpPr>
        <p:spPr>
          <a:xfrm>
            <a:off x="476250" y="-39093279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核心能力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476250" y="-38712279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AI溯因推理替代规则匹配，理解代码意图而非匹配模式。发现权限绕过、业务逻辑缺陷等规则引擎无法触及的漏洞。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476250" y="-38331279"/>
            <a:ext cx="134016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12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476250" y="-38007429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安全领域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76250" y="-37626429"/>
            <a:ext cx="14039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0规则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76250" y="-37274004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无需更新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476250" y="-36893004"/>
            <a:ext cx="14039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逻辑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476250" y="-36540579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漏洞覆盖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476250" y="-36159579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精准输出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76250" y="-22862679"/>
            <a:ext cx="1340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 Output · Five-Layer Dedup + Bayesian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76250" y="-22481679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核心能力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76250" y="-22100679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五层语义去重过滤近似重复，贝叶斯置信度评分量化风险等级，三重审查确保每个告警可操作。告别告警疲劳。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76250" y="-21719679"/>
            <a:ext cx="14039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5层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76250" y="-21367254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语义去重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76250" y="-20986254"/>
            <a:ext cx="14039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评分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76250" y="-20633829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置信度量化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76250" y="-20252829"/>
            <a:ext cx="14039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3重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76250" y="-19900404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质量审查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76250" y="-19519404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领域专长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76250" y="-6222504"/>
            <a:ext cx="1340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 Expertise · 12 Security Domains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476250" y="-5841504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核心能力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476250" y="-5460504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12个安全领域各有专属审计策略：Web侧重XSS/CSRF，AI Agent侧重Prompt注入，基础设施侧重配置风险。不是一套规则打天下。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476250" y="-5079504"/>
            <a:ext cx="134016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12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476250" y="-4755654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安全领域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476250" y="-4374654"/>
            <a:ext cx="14039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专属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476250" y="-4022229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审计策略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476250" y="-3641229"/>
            <a:ext cx="14039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自动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476250" y="-3288804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领域适配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476250" y="-2907804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持续进化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476250" y="10389096"/>
            <a:ext cx="1340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Evolution · Bayesian Learning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476250" y="1077009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核心能力</a:t>
            </a:r>
            <a:endParaRPr lang="en-US" sz="1200" dirty="0"/>
          </a:p>
        </p:txBody>
      </p:sp>
      <p:sp>
        <p:nvSpPr>
          <p:cNvPr id="41" name="Text 35"/>
          <p:cNvSpPr/>
          <p:nvPr/>
        </p:nvSpPr>
        <p:spPr>
          <a:xfrm>
            <a:off x="476250" y="1115109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历史扫描数据持续学习因果强度，跨项目复用经验。每次扫描后引擎更精准，无需人工更新规则库。越用越准，而非越用越旧。</a:t>
            </a:r>
            <a:endParaRPr lang="en-US" sz="1200" dirty="0"/>
          </a:p>
        </p:txBody>
      </p:sp>
      <p:sp>
        <p:nvSpPr>
          <p:cNvPr id="42" name="Text 36"/>
          <p:cNvSpPr/>
          <p:nvPr/>
        </p:nvSpPr>
        <p:spPr>
          <a:xfrm>
            <a:off x="476250" y="11532096"/>
            <a:ext cx="14039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自动</a:t>
            </a:r>
            <a:endParaRPr lang="en-US" sz="1200" dirty="0"/>
          </a:p>
        </p:txBody>
      </p:sp>
      <p:sp>
        <p:nvSpPr>
          <p:cNvPr id="43" name="Text 37"/>
          <p:cNvSpPr/>
          <p:nvPr/>
        </p:nvSpPr>
        <p:spPr>
          <a:xfrm>
            <a:off x="476250" y="11884521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经验学习</a:t>
            </a:r>
            <a:endParaRPr lang="en-US" sz="1200" dirty="0"/>
          </a:p>
        </p:txBody>
      </p:sp>
      <p:sp>
        <p:nvSpPr>
          <p:cNvPr id="44" name="Text 38"/>
          <p:cNvSpPr/>
          <p:nvPr/>
        </p:nvSpPr>
        <p:spPr>
          <a:xfrm>
            <a:off x="476250" y="12265521"/>
            <a:ext cx="14039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跨项目</a:t>
            </a:r>
            <a:endParaRPr lang="en-US" sz="1200" dirty="0"/>
          </a:p>
        </p:txBody>
      </p:sp>
      <p:sp>
        <p:nvSpPr>
          <p:cNvPr id="45" name="Text 39"/>
          <p:cNvSpPr/>
          <p:nvPr/>
        </p:nvSpPr>
        <p:spPr>
          <a:xfrm>
            <a:off x="476250" y="1261794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知识复用</a:t>
            </a:r>
            <a:endParaRPr lang="en-US" sz="1200" dirty="0"/>
          </a:p>
        </p:txBody>
      </p:sp>
      <p:sp>
        <p:nvSpPr>
          <p:cNvPr id="46" name="Text 40"/>
          <p:cNvSpPr/>
          <p:nvPr/>
        </p:nvSpPr>
        <p:spPr>
          <a:xfrm>
            <a:off x="476250" y="12998946"/>
            <a:ext cx="14039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越准</a:t>
            </a:r>
            <a:endParaRPr lang="en-US" sz="1200" dirty="0"/>
          </a:p>
        </p:txBody>
      </p:sp>
      <p:sp>
        <p:nvSpPr>
          <p:cNvPr id="47" name="Text 41"/>
          <p:cNvSpPr/>
          <p:nvPr/>
        </p:nvSpPr>
        <p:spPr>
          <a:xfrm>
            <a:off x="476250" y="13351371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持续提升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57834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4"/>
              </a:spcBef>
              <a:spcAft>
                <a:spcPts val="804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商业价值：安全投资的回报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6250" y="959346"/>
            <a:ext cx="1340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Value · ROI &amp; Competitive Advantage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6250" y="134034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当前风险成本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6250" y="1768971"/>
            <a:ext cx="54057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$445万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0096" y="1721346"/>
            <a:ext cx="5687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/次泄露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6250" y="210234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人力审计成本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6250" y="2483346"/>
            <a:ext cx="8129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2-4周/项目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6250" y="286434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延迟修复倍增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6250" y="3245346"/>
            <a:ext cx="505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5-25倍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6250" y="362634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合规审计成本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6250" y="4054971"/>
            <a:ext cx="3203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60%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3764" y="4007346"/>
            <a:ext cx="67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人力占比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6250" y="438834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传统合规审计要求定期人工审查，自动化方案可降低60%合规人力投入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6250" y="476934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生产环境响应成本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6250" y="5150346"/>
            <a:ext cx="25800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25x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6250" y="547419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生产环境发现漏洞的修复成本是开发阶段的25倍（NIST研究）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6250" y="585519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96"/>
              </a:spcBef>
              <a:spcAft>
                <a:spcPts val="996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投资回报预测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6250" y="623619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第一年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6250" y="661719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投资期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6250" y="699819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误报处理成本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6250" y="737919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降低50%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6250" y="776019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审计效率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6250" y="814119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提升3倍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6250" y="852219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第二年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6250" y="890319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增长期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6250" y="928419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漏洞发现周期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6250" y="966519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缩短70%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6250" y="1004619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合规满足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6250" y="10427196"/>
            <a:ext cx="1340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SOC2/ISO/PCI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6250" y="1080819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第三年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6250" y="1118919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成熟期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6250" y="1157019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引擎精准度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6250" y="1195119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持续提升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6250" y="1233219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团队产能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6250" y="1271319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提升5倍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6250" y="1309419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核心回报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6250" y="1347519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风险降低+效率提升+合规加速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code\kimiSec\zerodayFind\frontend\dist-slides\html2pptx_tmp_all-slides\svg_1782451443892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1340346"/>
            <a:ext cx="12763500" cy="12763500"/>
          </a:xfrm>
          <a:prstGeom prst="rect">
            <a:avLst/>
          </a:prstGeom>
        </p:spPr>
      </p:pic>
      <p:pic>
        <p:nvPicPr>
          <p:cNvPr id="3" name="Image 1" descr="E:\code\kimiSec\zerodayFind\frontend\dist-slides\html2pptx_tmp_all-slides\svg_1782451444020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5399246"/>
            <a:ext cx="12763500" cy="12763500"/>
          </a:xfrm>
          <a:prstGeom prst="rect">
            <a:avLst/>
          </a:prstGeom>
        </p:spPr>
      </p:pic>
      <p:pic>
        <p:nvPicPr>
          <p:cNvPr id="4" name="Image 2" descr="E:\code\kimiSec\zerodayFind\frontend\dist-slides\html2pptx_tmp_all-slides\svg_1782451444153_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9458146"/>
            <a:ext cx="12763500" cy="1276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76250" y="-31406604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4"/>
              </a:spcBef>
              <a:spcAft>
                <a:spcPts val="804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开始智能代码安全审计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476250" y="-31025604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zerodayFind · 猎零安全团队 — 发现真实漏洞，降低安全风险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476250" y="-17728704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CLI工具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476250" y="-17347704"/>
            <a:ext cx="1340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zdll scan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476250" y="-16966704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立即开始扫描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476250" y="-3669804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CI/CD集成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76250" y="-3288804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集成你的DevSecOps流水线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76250" y="-2907804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自动化持续安全检测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76250" y="1038909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审计服务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76250" y="1077009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猎零安全团队深度审计+人工复核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76250" y="1115109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企业级安全评估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76250" y="11532096"/>
            <a:ext cx="1403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联系我们获取试用或了解更多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2026-06-26T05:24:04Z</dcterms:created>
  <dcterms:modified xsi:type="dcterms:W3CDTF">2026-06-26T05:24:04Z</dcterms:modified>
</cp:coreProperties>
</file>